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60720"/>
            <a:ext cx="12188952" cy="109728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АИС ГИ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Автоматизированная информационная система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гистологических исследований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образцов · Архив изображений · Улучшение качества нейросетью · Отчётность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ГБУ «Бюро судебно-медицинской экспертизы г. Байконур»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Зачем нужна система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Регистрация образцов, дел и заключений ведётся на бумаге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Микроскопические снимки хранятся без единого архива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Качество изображений зависит от оборудования и освещения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Отчёты начальнику БСМЭ собираются вручную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5303520" cy="4846320"/>
          </a:xfrm>
          <a:prstGeom prst="roundRect">
            <a:avLst>
              <a:gd name="adj" fmla="val 2830"/>
            </a:avLst>
          </a:prstGeom>
          <a:solidFill>
            <a:srgbClr val="E6EEF1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08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Цели АИС ГИ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201168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электронный журнал образцов
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Архив микроскопических изображений
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Улучшение снимков свёрточной нейросетью
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Заключения гистолога и начальника БСМЭ
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 исследования (экспорт в Word)
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статистических отчётов (экспорт в Excel)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ГИ · ГБУ БСМЭ г. Байконур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 системы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0E4D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Браузер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Thymeleaf-шаблоны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155448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E6EEF1"/>
          </a:solidFill>
          <a:ln w="19050">
            <a:solidFill>
              <a:srgbClr val="0E4D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645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1488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Security 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JPA/Hibernate · MapStruct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POI (Word/Excel)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55448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0E4D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Пользователи, дела,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образцы, заключения,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 обработки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rot="5400000">
            <a:off x="3337560" y="2240280"/>
            <a:ext cx="320040" cy="320040"/>
          </a:xfrm>
          <a:prstGeom prst="rightTriangl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7909560" y="2240280"/>
            <a:ext cx="320040" cy="320040"/>
          </a:xfrm>
          <a:prstGeom prst="rightTriangl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393192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E6EEF1"/>
          </a:solidFill>
          <a:ln w="19050">
            <a:solidFill>
              <a:srgbClr val="0E4D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4023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сервис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0" y="452628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PyTorch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+ Baseline (Pillow)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/enhance /train /models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3246120"/>
            <a:ext cx="0" cy="685800"/>
          </a:xfrm>
          <a:prstGeom prst="line">
            <a:avLst/>
          </a:prstGeom>
          <a:noFill/>
          <a:ln w="38100">
            <a:solidFill>
              <a:srgbClr val="F39C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9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393192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0E4D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Файловое хранилище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0" y="45262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uploads/images/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{caseNumber}/{sampleNumber}/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 · PNG · JPG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ГИ · ГБУ БСМЭ г. Байконур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Роли пользователей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54480" y="1554480"/>
            <a:ext cx="10149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9C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Администратор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0116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пользователями, сброс паролей, деактивация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640080" cy="640080"/>
          </a:xfrm>
          <a:prstGeom prst="ellips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2697480"/>
            <a:ext cx="10149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Лаборант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31546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дел, образцов, загрузка изображений, журнал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640080" cy="640080"/>
          </a:xfrm>
          <a:prstGeom prst="ellipse">
            <a:avLst/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554480" y="3840480"/>
            <a:ext cx="10149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Врач-гистолог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42976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образцов, улучшение снимков, заключения, протоколы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120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554480" y="4983480"/>
            <a:ext cx="10149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Начальник БСМЭ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37360" y="54406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Судебные заключения, надзор, 5 отчётов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ГИ · ГБУ БСМЭ г. Байконур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Жизненный цикл образца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03120"/>
            <a:ext cx="731520" cy="731520"/>
          </a:xfrm>
          <a:prstGeom prst="ellipse">
            <a:avLst/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Регистрация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Лаборант создаёт дело и образцы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2304288" y="3611880"/>
            <a:ext cx="182880" cy="274320"/>
          </a:xfrm>
          <a:prstGeom prst="rightTriangl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14016" y="192024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2656" y="2103120"/>
            <a:ext cx="731520" cy="731520"/>
          </a:xfrm>
          <a:prstGeom prst="ellipse">
            <a:avLst/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05456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Снимки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05456" y="35204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TIFF/JPG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превью, архив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261104" y="3611880"/>
            <a:ext cx="182880" cy="274320"/>
          </a:xfrm>
          <a:prstGeom prst="rightTriangl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192024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9472" y="2103120"/>
            <a:ext cx="731520" cy="731520"/>
          </a:xfrm>
          <a:prstGeom prst="ellipse">
            <a:avLst/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462272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Улучшение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62272" y="35204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Автоэнкодер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(U-Net или baseline)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5400000">
            <a:off x="6217920" y="3611880"/>
            <a:ext cx="182880" cy="274320"/>
          </a:xfrm>
          <a:prstGeom prst="rightTriangl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7648" y="192024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76288" y="2103120"/>
            <a:ext cx="731520" cy="731520"/>
          </a:xfrm>
          <a:prstGeom prst="ellipse">
            <a:avLst/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19088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19088" y="35204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Гистолог: диагноз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заключение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5400000">
            <a:off x="8174736" y="3611880"/>
            <a:ext cx="182880" cy="274320"/>
          </a:xfrm>
          <a:prstGeom prst="rightTriangl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84464" y="192024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33104" y="2103120"/>
            <a:ext cx="731520" cy="731520"/>
          </a:xfrm>
          <a:prstGeom prst="ellipse">
            <a:avLst/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33104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375904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Заключение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75904" y="35204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 БСМЭ: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судебное заключение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rot="5400000">
            <a:off x="10131552" y="3611880"/>
            <a:ext cx="182880" cy="274320"/>
          </a:xfrm>
          <a:prstGeom prst="rightTriangl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41280" y="192024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89920" y="2103120"/>
            <a:ext cx="731520" cy="731520"/>
          </a:xfrm>
          <a:prstGeom prst="ellipse">
            <a:avLst/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033272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Отчётность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332720" y="35204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 Word,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Excel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ГИ · ГБУ БСМЭ г. Байконур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Python-микросервис, а не Java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Нейросети живут в Python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240280"/>
            <a:ext cx="457200" cy="457200"/>
          </a:xfrm>
          <a:prstGeom prst="ellips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PyTorch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65176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Стандартная библиотека для свёрточных сетей. Для Java нет сравнимого по зрелости решения.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2240280"/>
            <a:ext cx="457200" cy="457200"/>
          </a:xfrm>
          <a:prstGeom prst="ellips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Pillow / NumPy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65176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примитивы для работы с изображениями: фильтры, масштабирование, тензоры.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297680"/>
            <a:ext cx="457200" cy="457200"/>
          </a:xfrm>
          <a:prstGeom prst="ellips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251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Изоляция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470916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Тяжёлая ML-часть отдельно от бизнес-логики. Сервис можно перезапустить, не трогая основную систему.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06908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4297680"/>
            <a:ext cx="457200" cy="457200"/>
          </a:xfrm>
          <a:prstGeom prst="ellips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4251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REST-интерфейс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470916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вызывает Python по HTTP через RestTemplate. Никаких JNI и нативных библиотек.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ГИ · ГБУ БСМЭ г. Байконур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Две стратегии улучшения изображений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/enhance поддерживает два режима. Запрос может прислать mode=baseline, mode=neural или mode=auto.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577840" cy="4297680"/>
          </a:xfrm>
          <a:prstGeom prst="roundRect">
            <a:avLst>
              <a:gd name="adj" fmla="val 3191"/>
            </a:avLst>
          </a:prstGeom>
          <a:solidFill>
            <a:srgbClr val="E6EEF1"/>
          </a:solidFill>
          <a:ln w="25400">
            <a:solidFill>
              <a:srgbClr val="2D9C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— Pillow-фильтры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Детерминированный алгоритм. Обучение не нужно.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autocontrast — растягивает гистограмму
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UnsharpMask — чёткость краёв
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+8% — усиление контраста
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Sharpness +15% — резкость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всегда, за доли секунды. Результат предсказуем и одинаков на любом ПК.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577840" cy="4297680"/>
          </a:xfrm>
          <a:prstGeom prst="roundRect">
            <a:avLst>
              <a:gd name="adj" fmla="val 3191"/>
            </a:avLst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488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— U-Net (PyTorch)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Обучаемая свёрточная сеть. Нужны данные и тренировка.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310896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DownBlock (32→64→128)
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256 каналов
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UpBlock + skip connections
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+ residual: 0.35·in + 0.65·out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53035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39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лучший результат на сложных кадрах, но требует обучения и весов.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ГИ · ГБУ БСМЭ г. Байконур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U-Net обучается, а baseline — нет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778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= готовая формула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Pillow-фильтры — это математические операции над пикселями: вычислить среднее, сдвинуть яркость, применить свёртку с фиксированным ядром резкости. Все коэффициенты уже зашиты в библиотеку.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ничего не «помнит». Каждый запуск — один и тот же набор операций. Обучать нечего: параметры не являются переменными.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5778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0E4D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63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 = модель с параметрами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свёрточной сети ~11 миллионов весов. При инициализации они случайны — сеть на выходе выдаёт шум. Веса должны быть подобраны под задачу «взять плохой снимок и получить чистый».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4023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Подбор весов — это и есть обучение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3891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Показываем сети пары «испорченный → чистый» снимок, считаем ошибку, обратным распространением корректируем веса. Тысячи итераций — и сеть запоминает, как выглядит «хороший» гистологический кадр.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ГИ · ГБУ БСМЭ г. Байконур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 U-Net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→ Bottleneck → Decoder. Skip connections передают детали напрямую из encoder в decoder.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" y="2011680"/>
            <a:ext cx="1143000" cy="128016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2011680"/>
            <a:ext cx="1143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256×256×3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64792" y="2011680"/>
            <a:ext cx="1143000" cy="1280160"/>
          </a:xfrm>
          <a:prstGeom prst="roundRect">
            <a:avLst>
              <a:gd name="adj" fmla="val 6400"/>
            </a:avLst>
          </a:prstGeom>
          <a:solidFill>
            <a:srgbClr val="E6EEF1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2011680"/>
            <a:ext cx="1143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32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011680"/>
            <a:ext cx="1143000" cy="1280160"/>
          </a:xfrm>
          <a:prstGeom prst="roundRect">
            <a:avLst>
              <a:gd name="adj" fmla="val 6400"/>
            </a:avLst>
          </a:prstGeom>
          <a:solidFill>
            <a:srgbClr val="BFDCE5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011680"/>
            <a:ext cx="1143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0248" y="2011680"/>
            <a:ext cx="1143000" cy="1280160"/>
          </a:xfrm>
          <a:prstGeom prst="roundRect">
            <a:avLst>
              <a:gd name="adj" fmla="val 6400"/>
            </a:avLst>
          </a:prstGeom>
          <a:solidFill>
            <a:srgbClr val="8CC0CE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011680"/>
            <a:ext cx="1143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128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22976" y="2286000"/>
            <a:ext cx="1143000" cy="1280160"/>
          </a:xfrm>
          <a:prstGeom prst="roundRect">
            <a:avLst>
              <a:gd name="adj" fmla="val 6400"/>
            </a:avLst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2976" y="2286000"/>
            <a:ext cx="1143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75704" y="2011680"/>
            <a:ext cx="1143000" cy="1280160"/>
          </a:xfrm>
          <a:prstGeom prst="roundRect">
            <a:avLst>
              <a:gd name="adj" fmla="val 6400"/>
            </a:avLst>
          </a:prstGeom>
          <a:solidFill>
            <a:srgbClr val="8CC0CE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75704" y="2011680"/>
            <a:ext cx="1143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128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28432" y="2011680"/>
            <a:ext cx="1143000" cy="1280160"/>
          </a:xfrm>
          <a:prstGeom prst="roundRect">
            <a:avLst>
              <a:gd name="adj" fmla="val 6400"/>
            </a:avLst>
          </a:prstGeom>
          <a:solidFill>
            <a:srgbClr val="BFDCE5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2011680"/>
            <a:ext cx="1143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64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81160" y="2011680"/>
            <a:ext cx="1143000" cy="1280160"/>
          </a:xfrm>
          <a:prstGeom prst="roundRect">
            <a:avLst>
              <a:gd name="adj" fmla="val 6400"/>
            </a:avLst>
          </a:prstGeom>
          <a:solidFill>
            <a:srgbClr val="E6EEF1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2011680"/>
            <a:ext cx="1143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32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533888" y="2011680"/>
            <a:ext cx="1143000" cy="1280160"/>
          </a:xfrm>
          <a:prstGeom prst="roundRect">
            <a:avLst>
              <a:gd name="adj" fmla="val 6400"/>
            </a:avLst>
          </a:prstGeom>
          <a:solidFill>
            <a:srgbClr val="F39C2B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33888" y="2011680"/>
            <a:ext cx="1143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256×256×3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36292" y="2011680"/>
            <a:ext cx="7516368" cy="0"/>
          </a:xfrm>
          <a:prstGeom prst="line">
            <a:avLst/>
          </a:prstGeom>
          <a:noFill/>
          <a:ln w="25400">
            <a:solidFill>
              <a:srgbClr val="F39C2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336292" y="1737360"/>
            <a:ext cx="0" cy="274320"/>
          </a:xfrm>
          <a:prstGeom prst="line">
            <a:avLst/>
          </a:prstGeom>
          <a:noFill/>
          <a:ln w="25400">
            <a:solidFill>
              <a:srgbClr val="F39C2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852660" y="1737360"/>
            <a:ext cx="0" cy="274320"/>
          </a:xfrm>
          <a:prstGeom prst="line">
            <a:avLst/>
          </a:prstGeom>
          <a:noFill/>
          <a:ln w="25400">
            <a:solidFill>
              <a:srgbClr val="F39C2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336292" y="1737360"/>
            <a:ext cx="7516368" cy="0"/>
          </a:xfrm>
          <a:prstGeom prst="line">
            <a:avLst/>
          </a:prstGeom>
          <a:noFill/>
          <a:ln w="25400">
            <a:solidFill>
              <a:srgbClr val="F39C2B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589020" y="2011680"/>
            <a:ext cx="5010912" cy="0"/>
          </a:xfrm>
          <a:prstGeom prst="line">
            <a:avLst/>
          </a:prstGeom>
          <a:noFill/>
          <a:ln w="25400">
            <a:solidFill>
              <a:srgbClr val="F39C2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589020" y="1737360"/>
            <a:ext cx="0" cy="274320"/>
          </a:xfrm>
          <a:prstGeom prst="line">
            <a:avLst/>
          </a:prstGeom>
          <a:noFill/>
          <a:ln w="25400">
            <a:solidFill>
              <a:srgbClr val="F39C2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8599932" y="1737360"/>
            <a:ext cx="0" cy="274320"/>
          </a:xfrm>
          <a:prstGeom prst="line">
            <a:avLst/>
          </a:prstGeom>
          <a:noFill/>
          <a:ln w="25400">
            <a:solidFill>
              <a:srgbClr val="F39C2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589020" y="1737360"/>
            <a:ext cx="5010912" cy="0"/>
          </a:xfrm>
          <a:prstGeom prst="line">
            <a:avLst/>
          </a:prstGeom>
          <a:noFill/>
          <a:ln w="25400">
            <a:solidFill>
              <a:srgbClr val="F39C2B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841748" y="2011680"/>
            <a:ext cx="2505456" cy="0"/>
          </a:xfrm>
          <a:prstGeom prst="line">
            <a:avLst/>
          </a:prstGeom>
          <a:noFill/>
          <a:ln w="25400">
            <a:solidFill>
              <a:srgbClr val="F39C2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841748" y="1737360"/>
            <a:ext cx="0" cy="274320"/>
          </a:xfrm>
          <a:prstGeom prst="line">
            <a:avLst/>
          </a:prstGeom>
          <a:noFill/>
          <a:ln w="25400">
            <a:solidFill>
              <a:srgbClr val="F39C2B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347204" y="1737360"/>
            <a:ext cx="0" cy="274320"/>
          </a:xfrm>
          <a:prstGeom prst="line">
            <a:avLst/>
          </a:prstGeom>
          <a:noFill/>
          <a:ln w="25400">
            <a:solidFill>
              <a:srgbClr val="F39C2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841748" y="1737360"/>
            <a:ext cx="2505456" cy="0"/>
          </a:xfrm>
          <a:prstGeom prst="line">
            <a:avLst/>
          </a:prstGeom>
          <a:noFill/>
          <a:ln w="25400">
            <a:solidFill>
              <a:srgbClr val="F39C2B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57200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39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4400" y="4480560"/>
            <a:ext cx="10332720" cy="1554480"/>
          </a:xfrm>
          <a:prstGeom prst="roundRect">
            <a:avLst>
              <a:gd name="adj" fmla="val 7059"/>
            </a:avLst>
          </a:prstGeom>
          <a:solidFill>
            <a:srgbClr val="E6EEF1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 connection на выходе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97280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0.35 · input + 0.65 · sigmoid(network(input))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предсказывает «поправку», а не рисует изображение с нуля — это стабилизирует обучение и не даёт потерять исходные структуры.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ГИ · ГБУ БСМЭ г. Байконур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Параметры обучения U-Net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600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раз сеть увидит весь датасет. Больше — лучше качество, но дольше и риск переобучения.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64592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45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1040" y="1600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22402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изображений обрабатывается за один шаг. Маленький — чтобы уместиться в память CPU.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4612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46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2004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0.0005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оптимизатора. Слишком большой — расходимость; слишком маленький — очень медленное обучение.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0632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24612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246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image_size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32004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256×256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92240" y="38404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кадры приводятся к одному разрешению. Также поддерживается 224 — быстрее, но менее детально.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84632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846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68880" y="4800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0080" y="54406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оптимизатор: сам подбирает скорость для каждого веса. Стандарт для CV-задач.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46634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484632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846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4800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+ 0.15·edge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92240" y="54406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учит точному пикселю, edge-loss (градиенты Собеля) — чётким границам тканей.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ГИ · ГБУ БСМЭ г. Байконур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Откуда берутся обучающие пары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 нас только «хорошие» снимки — как научить сеть исправлять «плохие»?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«плохой» вариант создаётся искусственно — из хорошего. Сеть учится возвращать исходник.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39C2B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Оригинал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чистый кадр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2020824" y="3017520"/>
            <a:ext cx="109728" cy="228600"/>
          </a:xfrm>
          <a:prstGeom prst="rightTriangl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0552" y="26517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2697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Downscale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30552" y="3108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0.35–0.7×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5400000">
            <a:off x="3694176" y="3017520"/>
            <a:ext cx="109728" cy="228600"/>
          </a:xfrm>
          <a:prstGeom prst="rightTriangl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03904" y="26517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3904" y="2697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blur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03904" y="3108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расфокус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5367528" y="3017520"/>
            <a:ext cx="109728" cy="228600"/>
          </a:xfrm>
          <a:prstGeom prst="rightTriangl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77256" y="26517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7256" y="2697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Contrast / brightness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77256" y="3108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040880" y="3017520"/>
            <a:ext cx="109728" cy="228600"/>
          </a:xfrm>
          <a:prstGeom prst="rightTriangl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50608" y="26517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2697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Шум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50608" y="3108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гауссовский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rot="5400000">
            <a:off x="8714232" y="3017520"/>
            <a:ext cx="109728" cy="228600"/>
          </a:xfrm>
          <a:prstGeom prst="rightTriangl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23960" y="26517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2697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JPEG артефакты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23960" y="3108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 25–55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rot="5400000">
            <a:off x="10387584" y="3017520"/>
            <a:ext cx="109728" cy="228600"/>
          </a:xfrm>
          <a:prstGeom prst="rightTriangl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97312" y="26517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97312" y="2697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«Плохой»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497312" y="3108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U-Net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" y="4206240"/>
            <a:ext cx="10332720" cy="2011680"/>
          </a:xfrm>
          <a:prstGeom prst="roundRect">
            <a:avLst>
              <a:gd name="adj" fmla="val 5455"/>
            </a:avLst>
          </a:prstGeom>
          <a:solidFill>
            <a:srgbClr val="E6EEF1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Функция потерь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7280" y="4709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L1(out, target) + 0.15 · L1(Sobel(out), Sobel(target))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80160" y="521208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L1 — средняя абсолютная разница по пикселям: «восстанови цвет»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Edge-loss на операторе Собеля — «сохрани контуры клеток и ядер»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Коэффициент 0.15 выбран опытно: не даёт edge-loss заглушить основную задачу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ГИ · ГБУ БСМЭ г. Байконур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именно мы запрограммировали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Библиотеки дают кирпичи. Из них мы собрали конкретную работающую систему под задачу гистологии.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577840" cy="4480560"/>
          </a:xfrm>
          <a:prstGeom prst="roundRect">
            <a:avLst>
              <a:gd name="adj" fmla="val 3061"/>
            </a:avLst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Наш код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Топология U-Net (3 down + bottleneck + 3 up + skip)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Residual: 0.35·in + 0.65·sigmoid(out)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Пайплайн деградации из 6 шагов (blur, шум, JPEG…)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Гибридная loss: L1 + 0.15·edge (Sobel)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обучения + PSNR/SSIM после каждой эпохи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Инференс: паддинг до кратного 8, un-pad, формат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подбор 4 фильтров Pillow (коэф. 1.08, 1.15)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FastAPI-слой из 8 endpoint-ов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+ PID-трекинг + training_status.json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Java-клиент + синхронизация сессий по timestamp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577840" cy="4480560"/>
          </a:xfrm>
          <a:prstGeom prst="roundRect">
            <a:avLst>
              <a:gd name="adj" fmla="val 3061"/>
            </a:avLst>
          </a:prstGeom>
          <a:solidFill>
            <a:srgbClr val="E6EEF1"/>
          </a:solidFill>
          <a:ln w="25400">
            <a:solidFill>
              <a:srgbClr val="2D9C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65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 библиотек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torch.nn.Conv2d / BatchNorm / ReLU — кирпичи слоёв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torch.nn.MaxPool2d / ConvTranspose2d — пулинг / апсемпл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torch.optim.Adam — оптимизатор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PIL.ImageOps.autocontrast / UnsharpMask — фильтры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массивы пикселей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— HTTP-сервер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RestTemplate — Java HTTP-клиент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 — хранение сессий обучения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39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1480 строк прикладного кода (Python ≈ 1000, Java ≈ 480)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ГИ · ГБУ БСМЭ г. Байконур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Результаты последнего обучения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23 080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обучающих снимков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10.7 ч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83280" y="2834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CPU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0.9749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09360" y="2834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35440" y="155448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25.6 дБ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235440" y="2834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11247120" cy="2103120"/>
          </a:xfrm>
          <a:prstGeom prst="roundRect">
            <a:avLst>
              <a:gd name="adj" fmla="val 5217"/>
            </a:avLst>
          </a:prstGeom>
          <a:solidFill>
            <a:srgbClr val="E6EEF1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означают метрики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(Structural Similarity) — сходство структур: 1.0 = идентично, 0.97+ = визуально неразличимо.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(Peak Signal-to-Noise Ratio) — дБ: &gt;25 считается хорошим качеством, &gt;30 — высоким.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научилась восстанавливать кадры близко к оригиналу даже после агрессивной деградации.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ГИ · ГБУ БСМЭ г. Байконур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Python-сервиса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solidFill>
            <a:srgbClr val="0E4D64"/>
          </a:solidFill>
          <a:ln w="12700">
            <a:solidFill>
              <a:srgbClr val="0E4D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Endpoint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463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Описание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84832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848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19659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/enhance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19659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Улучшить изображение. mode=auto|neural|baseline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11247120" cy="594360"/>
          </a:xfrm>
          <a:prstGeom prst="rect">
            <a:avLst/>
          </a:prstGeom>
          <a:solidFill>
            <a:srgbClr val="E6EEF1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679192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791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2560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25603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обучение (subprocess, PID сохраняется)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73552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735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31546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/training/status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31546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статус обучения: running / done / error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11247120" cy="594360"/>
          </a:xfrm>
          <a:prstGeom prst="rect">
            <a:avLst/>
          </a:prstGeom>
          <a:solidFill>
            <a:srgbClr val="E6EEF1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867912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679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28800" y="3749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/training/history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7490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запусков с метриками и временем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3434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462272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4622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28800" y="43434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0640" y="43434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обученных моделей, активная модель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937760"/>
            <a:ext cx="11247120" cy="594360"/>
          </a:xfrm>
          <a:prstGeom prst="rect">
            <a:avLst/>
          </a:prstGeom>
          <a:solidFill>
            <a:srgbClr val="E6EEF1"/>
          </a:solidFill>
          <a:ln w="12700">
            <a:solidFill>
              <a:srgbClr val="E6EE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056632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056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828800" y="4937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20640" y="49377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SSIM, PSNR, loss — агрегированные по последнему обучению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вызывает эти endpoint-ы через RestTemplate в AutoencoderClientService и логирует каждую операцию в ImageProcessingLog.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ГИ · ГБУ БСМЭ г. Байконур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у нас получилось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АИС ГИ закрывает весь цикл: от регистрации образца до отчётов начальнику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Единая база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7432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Образцы, дела, заключения, протоколы — в одной системе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377440"/>
            <a:ext cx="457200" cy="457200"/>
          </a:xfrm>
          <a:prstGeom prst="ellips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Архив снимков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27432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TIFF/JPG с автоматическим превью и журналом загрузок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566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Улучшение качества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0233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режима: быстрый baseline и обучаемый U-Net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3657600"/>
            <a:ext cx="457200" cy="457200"/>
          </a:xfrm>
          <a:prstGeom prst="ellips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3566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Обучение на лету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40880" y="40233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тренировки из UI, отслеживание прогресса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846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Документы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5303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 и заключения — экспорт в Word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4937760"/>
            <a:ext cx="457200" cy="457200"/>
          </a:xfrm>
          <a:prstGeom prst="ellipse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40880" y="4846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Аналитика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0880" y="5303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отчётов для начальника БСМЭ — экспорт в Excel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39C2B"/>
          </a:solidFill>
          <a:ln w="12700">
            <a:solidFill>
              <a:srgbClr val="F39C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АИС ГИ — Автоматизированная информационная система гистологических исследований</dc:title>
  <dc:subject>PptxGenJS Presentation</dc:subject>
  <dc:creator>PptxGenJS</dc:creator>
  <cp:lastModifiedBy>PptxGenJS</cp:lastModifiedBy>
  <cp:revision>1</cp:revision>
  <dcterms:created xsi:type="dcterms:W3CDTF">2026-04-14T16:00:42Z</dcterms:created>
  <dcterms:modified xsi:type="dcterms:W3CDTF">2026-04-14T16:00:42Z</dcterms:modified>
</cp:coreProperties>
</file>